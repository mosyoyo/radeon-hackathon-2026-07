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/>
              <a:t>Knowledge Garden</a:t>
            </a:r>
          </a:p>
          <a:p>
            <a:pPr>
              <a:spcAft>
                <a:spcPts val="800"/>
              </a:spcAft>
              <a:defRPr sz="2400"/>
            </a:pPr>
            <a:r>
              <a:t>A Private Learning Companion Agent on AMD Radeon</a:t>
            </a:r>
          </a:p>
          <a:p>
            <a:pPr>
              <a:spcAft>
                <a:spcPts val="800"/>
              </a:spcAft>
              <a:defRPr sz="2400"/>
            </a:pPr>
            <a:r>
              <a:t>Track 2 — Development &amp; Local Deployment of Private AI Agents</a:t>
            </a:r>
          </a:p>
          <a:p>
            <a:pPr>
              <a:spcAft>
                <a:spcPts val="800"/>
              </a:spcAft>
              <a:defRPr sz="2400"/>
            </a:pPr>
            <a:r>
              <a:t>maoshaoyang · AMD AI DevMaster Hackathon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Core Capabilities</a:t>
            </a:r>
          </a:p>
          <a:p>
            <a:pPr>
              <a:spcAft>
                <a:spcPts val="1000"/>
              </a:spcAft>
              <a:defRPr sz="2000"/>
            </a:pPr>
            <a:r>
              <a:t>Markdown-only upload with original-source persistence</a:t>
            </a:r>
          </a:p>
          <a:p>
            <a:pPr>
              <a:spcAft>
                <a:spcPts val="1000"/>
              </a:spcAft>
              <a:defRPr sz="2000"/>
            </a:pPr>
            <a:r>
              <a:t>Verified knowledge extraction (32B model + source validation)</a:t>
            </a:r>
          </a:p>
          <a:p>
            <a:pPr>
              <a:spcAft>
                <a:spcPts val="1000"/>
              </a:spcAft>
              <a:defRPr sz="2000"/>
            </a:pPr>
            <a:r>
              <a:t>Feynman recall learning with structured feedback</a:t>
            </a:r>
          </a:p>
          <a:p>
            <a:pPr>
              <a:spcAft>
                <a:spcPts val="1000"/>
              </a:spcAft>
              <a:defRPr sz="2000"/>
            </a:pPr>
            <a:r>
              <a:t>Mastery assessment with server-side grading</a:t>
            </a:r>
          </a:p>
          <a:p>
            <a:pPr>
              <a:spcAft>
                <a:spcPts val="1000"/>
              </a:spcAft>
              <a:defRPr sz="2000"/>
            </a:pPr>
            <a:r>
              <a:t>SM-2 spaced repetition on the Ebbinghaus forgetting curve</a:t>
            </a:r>
          </a:p>
          <a:p>
            <a:pPr>
              <a:spcAft>
                <a:spcPts val="1000"/>
              </a:spcAft>
              <a:defRPr sz="2000"/>
            </a:pPr>
            <a:r>
              <a:t>Full source traceability — every unit links to its document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AMD Radeon / ROCm Optimization</a:t>
            </a:r>
          </a:p>
          <a:p>
            <a:pPr>
              <a:spcAft>
                <a:spcPts val="1000"/>
              </a:spcAft>
              <a:defRPr sz="2000"/>
            </a:pPr>
            <a:r>
              <a:t>Single AMD Radeon gfx1100, 48 GB VRAM, ROCm 7.2.x, vLLM 0.16.1</a:t>
            </a:r>
          </a:p>
          <a:p>
            <a:pPr>
              <a:spcAft>
                <a:spcPts val="1000"/>
              </a:spcAft>
              <a:defRPr sz="2000"/>
            </a:pPr>
            <a:r>
              <a:t>AWQ 4-bit: 2.1x faster than bf16, halves VRAM (26.4 vs 12.3 tok/s)</a:t>
            </a:r>
          </a:p>
          <a:p>
            <a:pPr>
              <a:spcAft>
                <a:spcPts val="1000"/>
              </a:spcAft>
              <a:defRPr sz="2000"/>
            </a:pPr>
            <a:r>
              <a:t>Dual-model co-residency: 14B + 32B on one card (42 GB, zero degradation)</a:t>
            </a:r>
          </a:p>
          <a:p>
            <a:pPr>
              <a:spcAft>
                <a:spcPts val="1000"/>
              </a:spcAft>
              <a:defRPr sz="2000"/>
            </a:pPr>
            <a:r>
              <a:t>Context budgeting: 32B=4096, 14B=8192 (VRAM-aware)</a:t>
            </a:r>
          </a:p>
          <a:p>
            <a:pPr>
              <a:spcAft>
                <a:spcPts val="1000"/>
              </a:spcAft>
              <a:defRPr sz="2000"/>
            </a:pPr>
            <a:r>
              <a:t>100% local inference — no cloud, no external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System Architecture</a:t>
            </a:r>
          </a:p>
          <a:p>
            <a:pPr>
              <a:spcAft>
                <a:spcPts val="1000"/>
              </a:spcAft>
              <a:defRPr sz="2000"/>
            </a:pPr>
            <a:r>
              <a:t>React Web UI (SPA) → FastAPI → async extraction worker → SQLite</a:t>
            </a:r>
          </a:p>
          <a:p>
            <a:pPr>
              <a:spcAft>
                <a:spcPts val="1000"/>
              </a:spcAft>
              <a:defRPr sz="2000"/>
            </a:pPr>
            <a:r>
              <a:t>Dialogue layer: Qwen2.5-14B-Instruct-AWQ (:8000, 26.5 tok/s)</a:t>
            </a:r>
          </a:p>
          <a:p>
            <a:pPr>
              <a:spcAft>
                <a:spcPts val="1000"/>
              </a:spcAft>
              <a:defRPr sz="2000"/>
            </a:pPr>
            <a:r>
              <a:t>Batch layer: Qwen2.5-32B-Instruct-AWQ (:8001, 12.5 tok/s)</a:t>
            </a:r>
          </a:p>
          <a:p>
            <a:pPr>
              <a:spcAft>
                <a:spcPts val="1000"/>
              </a:spcAft>
              <a:defRPr sz="2000"/>
            </a:pPr>
            <a:r>
              <a:t>Embedding: bge-base-en-v1.5 (RAG source grounding)</a:t>
            </a:r>
          </a:p>
          <a:p>
            <a:pPr>
              <a:spcAft>
                <a:spcPts val="1000"/>
              </a:spcAft>
              <a:defRPr sz="2000"/>
            </a:pPr>
            <a:r>
              <a:t>Model routing validated by offline A/B (Qwen2.5 over Qwen3)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Quality &amp; Testing</a:t>
            </a:r>
          </a:p>
          <a:p>
            <a:pPr>
              <a:spcAft>
                <a:spcPts val="1000"/>
              </a:spcAft>
              <a:defRPr sz="2000"/>
            </a:pPr>
            <a:r>
              <a:t>85 backend unit tests (extraction, validation, study, review, drain)</a:t>
            </a:r>
          </a:p>
          <a:p>
            <a:pPr>
              <a:spcAft>
                <a:spcPts val="1000"/>
              </a:spcAft>
              <a:defRPr sz="2000"/>
            </a:pPr>
            <a:r>
              <a:t>75 Playwright e2e tests across 3 viewports (375/768/1280)</a:t>
            </a:r>
          </a:p>
          <a:p>
            <a:pPr>
              <a:spcAft>
                <a:spcPts val="1000"/>
              </a:spcAft>
              <a:defRPr sz="2000"/>
            </a:pPr>
            <a:r>
              <a:t>Contract parity gate: OpenAPI snapshot ↔ TypeScript types</a:t>
            </a:r>
          </a:p>
          <a:p>
            <a:pPr>
              <a:spcAft>
                <a:spcPts val="1000"/>
              </a:spcAft>
              <a:defRPr sz="2000"/>
            </a:pPr>
            <a:r>
              <a:t>Demo video: 4:18 walkthrough with English narration + subtitles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